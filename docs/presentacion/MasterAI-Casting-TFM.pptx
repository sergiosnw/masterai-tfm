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Presentación breve del proyecto: qué es, cómo llegué a la idea, cómo lo construí trabajando con agentes de IA y qué aprendí. El proyecto está desplegado y se puede probar en directo.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Contexto del dominio: el director recibe vídeos por canales dispersos (correo, enlaces de descarga, unidades compartidas), los compara a mano y pierde trazabilidad de fases y feedback. Añade aquí tu propia experiencia o la de alguien del sector si la tienes.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Aquí es donde cuentas cómo llegaste a la idea. Puntos de partida: partí del problema (envíos dispersos), pensé quién hace cada acción (el actor graba y envía; el director revisa y decide) y de ahí salieron dos clientes distintos sobre la misma API. Añade tu motivación personal: por qué casting, qué te llevó a elegir este dominio.</a:t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Estas decisiones salen del plan de trabajo (master_plan): proteger el camino feliz antes de añadir complejidad. Justifica cada una: la autenticación se dejó fuera a propósito para que el tribunal pueda probar sin registro; Expo permite un único código para móvil y web; serverless por simplicidad de operación, aunque su sistema de ficheros de solo lectura condicionó el almacenamiento.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es el corazón del máster: cómo desarrollar con IA. Explica el archivo AGENTS.md como contrato con el agente (stack cerrado, arquitectura limpia, no añadir dependencias sin permiso, entidad e interfaz primero y esperar validación humana antes de escribir la función o la UI). Usé OpenCode al inicio y Claude Code después. Cuando algo fallaba se documentó la causa raíz antes de arreglarlo. Ajusta los detalles a tu experiencia real.</a:t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dependencias apuntan siempre hacia dentro. El núcleo (packages/core) es TypeScript puro con entidades, casos de uso e interfaces de repositorio. Prisma y Zod solo existen en infrastructure. La API valida con Zod, instancia el caso de uso y traduce el Result a HTTP. Cambiar de base de datos o de proveedor de IA no toca los casos de uso.</a:t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Cronología real extraída del historial de Git. Julio: fundación y scaffold de la app Expo. Finales de julio: base de datos real y panel conectado a la API. Principios de agosto: Cloudinary, cámara, análisis con IA y separación de perfiles. Mediados de agosto: rondas, envíos y materiales. Septiembre: pruebas, correcciones y documentación.</a:t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Estas tres rectificaciones están documentadas en el historial y en el análisis de causa raíz. Base64 en PostgreSQL parecía sencillo pero chocaba con los límites de tamaño de las funciones serverless. El routing por hash y los datos de ejemplo dejaron rutas rotas y pantallas que parecían funcionar sin backend real. Al escribir pruebas del servicio móvil descubrí que adjuntos y comentarios eran datos simulados.</a:t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director pulsa Analizar en un envío. El backend descarga el vídeo desde Cloudinary, lo transcribe con Whisper y pide a GPT-4o-mini que lo evalúe frente a los requisitos del papel, devolviendo una puntuación de 0 a 100 y un feedback de dos o tres frases. Limitación honesta: se analiza el audio transcrito, no la interpretación visual. La IA asiste, no decide: el director sigue marcando el estado.</a:t>
            </a:r>
            <a:endParaRPr/>
          </a:p>
        </p:txBody>
      </p:sp>
      <p:sp>
        <p:nvSpPr>
          <p:cNvPr id="257" name="Google Shape;2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pruebas no solo protegen: destapan cosas. Al revisar el código encontré que el borrado de adjuntos devolvía éxito sin borrar nada; que adjuntos y comentarios de la app móvil eran datos simulados; y que un límite de 5 MB en la web ya no correspondía a la arquitectura real. Los cuatro están corregidos.</a:t>
            </a:r>
            <a:endParaRPr/>
          </a:p>
        </p:txBody>
      </p:sp>
      <p:sp>
        <p:nvSpPr>
          <p:cNvPr id="286" name="Google Shape;2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Enseña el panel web en directo: elige Director, abre un proyecto, entra en una ronda con envíos y lanza el análisis con IA. Después elige Actor y muestra los castings abiertos. La app móvil se ejecuta con Expo; el APK de Android se genera con EAS Build.</a:t>
            </a:r>
            <a:endParaRPr/>
          </a:p>
        </p:txBody>
      </p:sp>
      <p:sp>
        <p:nvSpPr>
          <p:cNvPr id="306" name="Google Shape;30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Adapta estas lecciones a tu vivencia. Mensaje central: la IA acelera muchísimo, pero el proyecto no se acaba cuando compila; hay que verificarlo contra el código real y contra el sistema desplegado.</a:t>
            </a:r>
            <a:endParaRPr/>
          </a:p>
        </p:txBody>
      </p:sp>
      <p:sp>
        <p:nvSpPr>
          <p:cNvPr id="320" name="Google Shape;32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Cierra con la conclusión: el objetivo era demostrar que un flujo completo de casting con dos clientes e IA es viable con un núcleo limpio. Los siguientes pasos son los límites conscientes del alcance.</a:t>
            </a:r>
            <a:endParaRPr/>
          </a:p>
        </p:txBody>
      </p:sp>
      <p:sp>
        <p:nvSpPr>
          <p:cNvPr id="341" name="Google Shape;34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Cierre: agradecimientos y enlaces. Deja el proyecto desplegado abierto para preguntas.</a:t>
            </a:r>
            <a:endParaRPr/>
          </a:p>
        </p:txBody>
      </p:sp>
      <p:sp>
        <p:nvSpPr>
          <p:cNvPr id="354" name="Google Shape;3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aster-ai-tfm.vercel.app" TargetMode="External"/><Relationship Id="rId4" Type="http://schemas.openxmlformats.org/officeDocument/2006/relationships/hyperlink" Target="https://master-ai-tfm.vercel.app" TargetMode="External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master-ai-tfm.vercel.app" TargetMode="External"/><Relationship Id="rId4" Type="http://schemas.openxmlformats.org/officeDocument/2006/relationships/hyperlink" Target="https://master-ai-tfm.vercel.app" TargetMode="External"/><Relationship Id="rId5" Type="http://schemas.openxmlformats.org/officeDocument/2006/relationships/hyperlink" Target="https://github.com/SergioSNW/masterAI-tfm" TargetMode="External"/><Relationship Id="rId6" Type="http://schemas.openxmlformats.org/officeDocument/2006/relationships/hyperlink" Target="https://github.com/SergioSNW/masterAI-tfm" TargetMode="External"/><Relationship Id="rId7" Type="http://schemas.openxmlformats.org/officeDocument/2006/relationships/hyperlink" Target="https://github.com/SergioSNW/masterAI-tfm/blob/main/ARCHITECTURE_TEXTBOOK.md" TargetMode="External"/><Relationship Id="rId8" Type="http://schemas.openxmlformats.org/officeDocument/2006/relationships/hyperlink" Target="https://github.com/SergioSNW/masterAI-tfm/blob/main/ARCHITECTURE_TEXTBOOK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326880" y="3108960"/>
            <a:ext cx="4754880" cy="4754880"/>
          </a:xfrm>
          <a:prstGeom prst="ellipse">
            <a:avLst/>
          </a:prstGeom>
          <a:solidFill>
            <a:srgbClr val="A855F7">
              <a:alpha val="14902"/>
            </a:srgbClr>
          </a:solidFill>
          <a:ln cap="flat" cmpd="sng" w="12700">
            <a:solidFill>
              <a:srgbClr val="A85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13716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TRABAJO FINAL DE MÁSTER · MÁSTER EN DESARROLLO CON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MasterAI Casting Platform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3154680"/>
            <a:ext cx="7498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Plataforma multiplataforma de casting con revisión asistida por IA: un panel web para directores y una app móvil para actores.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Sergio Santamaria Nora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5532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Septiembre 2026 · master-ai-tfm.vercel.app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Un casting hoy vive en correos, carpetas y hojas de cálculo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2103120"/>
            <a:ext cx="3520440" cy="3566160"/>
          </a:xfrm>
          <a:prstGeom prst="roundRect">
            <a:avLst>
              <a:gd fmla="val 2078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14400" y="2377440"/>
            <a:ext cx="457200" cy="6400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14400" y="26060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Envíos dispersos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14400" y="3200400"/>
            <a:ext cx="3017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Vídeos por correo, enlaces de descarga y unidades compartidas. Nadie tiene una vista única de quién ha enviado qué.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343400" y="2103120"/>
            <a:ext cx="3520440" cy="3566160"/>
          </a:xfrm>
          <a:prstGeom prst="roundRect">
            <a:avLst>
              <a:gd fmla="val 2078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617720" y="2377440"/>
            <a:ext cx="457200" cy="64008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617720" y="26060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Comparar a mano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17720" y="3200400"/>
            <a:ext cx="3017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Ver decenas de self-tapes de principio a fin, tomar notas aparte y recordar cuál era cuál.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046720" y="2103120"/>
            <a:ext cx="3520440" cy="3566160"/>
          </a:xfrm>
          <a:prstGeom prst="roundRect">
            <a:avLst>
              <a:gd fmla="val 2078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321040" y="2377440"/>
            <a:ext cx="457200" cy="64008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Sin trazabilidad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321040" y="3200400"/>
            <a:ext cx="3017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Fases, feedback y decisiones repartidos entre mensajes. El actor no sabe en qué punto está su candidatura.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Necesidad: un único sitio donde el actor envía y el director revisa, decide y responde.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LA IDEA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Un flujo, dos clientes, una sola fuente de verdad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40080" y="2194560"/>
            <a:ext cx="3291840" cy="1463040"/>
          </a:xfrm>
          <a:prstGeom prst="roundRect">
            <a:avLst>
              <a:gd fmla="val 5000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40080" y="2194560"/>
            <a:ext cx="82296" cy="1463040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914400" y="23774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Actor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14400" y="283464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lang="en-US">
                <a:solidFill>
                  <a:srgbClr val="9A9AB2"/>
                </a:solidFill>
              </a:rPr>
              <a:t>Ve castings y envía su self-tape: lo graba en el móvil o sube un archivo en la web.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80" y="3931920"/>
            <a:ext cx="3291840" cy="1463040"/>
          </a:xfrm>
          <a:prstGeom prst="roundRect">
            <a:avLst>
              <a:gd fmla="val 5000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40080" y="3931920"/>
            <a:ext cx="82296" cy="146304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914400" y="41148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Director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14400" y="457200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Crea proyectos, castings y rondas; revisa, comenta y decide.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4023360" y="2926080"/>
            <a:ext cx="822960" cy="822960"/>
          </a:xfrm>
          <a:prstGeom prst="straightConnector1">
            <a:avLst/>
          </a:prstGeom>
          <a:noFill/>
          <a:ln cap="flat" cmpd="sng" w="25400">
            <a:solidFill>
              <a:srgbClr val="9A9AB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" name="Google Shape;63;p5"/>
          <p:cNvCxnSpPr/>
          <p:nvPr/>
        </p:nvCxnSpPr>
        <p:spPr>
          <a:xfrm flipH="1" rot="10800000">
            <a:off x="4023360" y="3840480"/>
            <a:ext cx="822960" cy="822960"/>
          </a:xfrm>
          <a:prstGeom prst="straightConnector1">
            <a:avLst/>
          </a:prstGeom>
          <a:noFill/>
          <a:ln cap="flat" cmpd="sng" w="25400">
            <a:solidFill>
              <a:srgbClr val="9A9A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5"/>
          <p:cNvSpPr/>
          <p:nvPr/>
        </p:nvSpPr>
        <p:spPr>
          <a:xfrm>
            <a:off x="4937760" y="3017520"/>
            <a:ext cx="2926080" cy="1554480"/>
          </a:xfrm>
          <a:prstGeom prst="roundRect">
            <a:avLst>
              <a:gd fmla="val 4706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937760" y="3017520"/>
            <a:ext cx="82296" cy="155448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212080" y="32004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API + base de datos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212080" y="365760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Una sola fuente de verdad: estados, feedback y vídeos.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7955280" y="379476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9A9A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" name="Google Shape;69;p5"/>
          <p:cNvSpPr/>
          <p:nvPr/>
        </p:nvSpPr>
        <p:spPr>
          <a:xfrm>
            <a:off x="8778240" y="3017520"/>
            <a:ext cx="2743200" cy="1554480"/>
          </a:xfrm>
          <a:prstGeom prst="roundRect">
            <a:avLst>
              <a:gd fmla="val 4706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778240" y="3017520"/>
            <a:ext cx="82296" cy="15544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052560" y="3200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052560" y="36576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Transcribe y puntúa cada envío frente a los requisitos del papel.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El director deja de buscar y empieza a decidir; el actor sabe en todo momento en qué punto está.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Cuatro decisiones de partida que acotaron 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40080" y="2103120"/>
            <a:ext cx="539496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914400" y="23042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Camino feliz primero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914400" y="2761488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El director crea un casting → el actor sube un vídeo → el director lo ve. Lo colaborativo, al final.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217920" y="2103120"/>
            <a:ext cx="539496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492240" y="23042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Sin autenticación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492240" y="2761488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Es una demo académica: el tribunal debe poder probarla sin registrarse. El «actor activo» se fija por variable de entorno.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40080" y="4114800"/>
            <a:ext cx="539496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914400" y="431596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Un solo código para actores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914400" y="4773168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React Native + Expo: </a:t>
            </a:r>
            <a:r>
              <a:rPr lang="en-US" sz="1450">
                <a:solidFill>
                  <a:srgbClr val="9A9AB2"/>
                </a:solidFill>
              </a:rPr>
              <a:t>un único código para Android e iOS. La grabación con cámara es exclusiva del móvil; en la web el actor sube un archivo.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217920" y="4114800"/>
            <a:ext cx="539496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492240" y="431596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Serverless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92240" y="4773168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Sin servidores que operar. Su sistema de ficheros efímero obligó a repensar dónde guardar los vídeos.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Trabajar con agentes de IA como con un equipo: reglas claras y revisión humana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40080" y="2103120"/>
            <a:ext cx="67665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AGENTS.md como contrato: TypeScript estricto, Arquitectura Limpia, sin dependencias nuevas sin permiso.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Orden de trabajo fijado: entidad → interfaz de repositorio → validación humana → función serverless / interfaz.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Agentes: OpenCode al inicio del proyecto, Claude Code en la fase de calidad y cierre.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Yo decido y reviso; el agente ejecuta. Cuando algo falla, se documenta la causa raíz antes de tocar código.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Verificación real: pruebas, compilación completa y comprobación contra la API desplegada.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863840" y="2103120"/>
            <a:ext cx="3657600" cy="3840480"/>
          </a:xfrm>
          <a:prstGeom prst="roundRect">
            <a:avLst>
              <a:gd fmla="val 2000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8138160" y="237744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85+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138160" y="35204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commits en dos meses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138160" y="411480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Primer commit: 10 de julio de 2026. Cada fase deja huella: fixes, causa raíz y pruebas.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Arquitectura Limpia: el negocio no sabe nada de frameworks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0080" y="2011680"/>
            <a:ext cx="5852160" cy="868680"/>
          </a:xfrm>
          <a:prstGeom prst="roundRect">
            <a:avLst>
              <a:gd fmla="val 8421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640080" y="2011680"/>
            <a:ext cx="82296" cy="868680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914400" y="2103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apps/web · apps/mobile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914400" y="24688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React 19 + Vite · React Native + Expo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40080" y="3017520"/>
            <a:ext cx="5852160" cy="868680"/>
          </a:xfrm>
          <a:prstGeom prst="roundRect">
            <a:avLst>
              <a:gd fmla="val 8421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640080" y="3017520"/>
            <a:ext cx="82296" cy="86868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914400" y="3108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api/router.ts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914400" y="3474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27 rutas: validan con Zod y llaman a un caso de uso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40080" y="4023360"/>
            <a:ext cx="5852160" cy="868680"/>
          </a:xfrm>
          <a:prstGeom prst="roundRect">
            <a:avLst>
              <a:gd fmla="val 8421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640080" y="4023360"/>
            <a:ext cx="82296" cy="86868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914400" y="4114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packages/infrastructure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914400" y="44805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Repositorios Prisma + 20 esquemas Zod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40080" y="5029200"/>
            <a:ext cx="5852160" cy="868680"/>
          </a:xfrm>
          <a:prstGeom prst="roundRect">
            <a:avLst>
              <a:gd fmla="val 8421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40080" y="5029200"/>
            <a:ext cx="82296" cy="8686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packages/core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914400" y="54864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8 entidades · 25 casos de uso · sin dependencias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8"/>
          <p:cNvCxnSpPr/>
          <p:nvPr/>
        </p:nvCxnSpPr>
        <p:spPr>
          <a:xfrm>
            <a:off x="3566160" y="2880360"/>
            <a:ext cx="0" cy="137160"/>
          </a:xfrm>
          <a:prstGeom prst="straightConnector1">
            <a:avLst/>
          </a:prstGeom>
          <a:noFill/>
          <a:ln cap="flat" cmpd="sng" w="19050">
            <a:solidFill>
              <a:srgbClr val="9A9AB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" name="Google Shape;135;p8"/>
          <p:cNvCxnSpPr/>
          <p:nvPr/>
        </p:nvCxnSpPr>
        <p:spPr>
          <a:xfrm>
            <a:off x="3566160" y="3886200"/>
            <a:ext cx="0" cy="137160"/>
          </a:xfrm>
          <a:prstGeom prst="straightConnector1">
            <a:avLst/>
          </a:prstGeom>
          <a:noFill/>
          <a:ln cap="flat" cmpd="sng" w="19050">
            <a:solidFill>
              <a:srgbClr val="9A9AB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" name="Google Shape;136;p8"/>
          <p:cNvCxnSpPr/>
          <p:nvPr/>
        </p:nvCxnSpPr>
        <p:spPr>
          <a:xfrm>
            <a:off x="3566160" y="4892040"/>
            <a:ext cx="0" cy="137160"/>
          </a:xfrm>
          <a:prstGeom prst="straightConnector1">
            <a:avLst/>
          </a:prstGeom>
          <a:noFill/>
          <a:ln cap="flat" cmpd="sng" w="19050">
            <a:solidFill>
              <a:srgbClr val="9A9A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p8"/>
          <p:cNvSpPr/>
          <p:nvPr/>
        </p:nvSpPr>
        <p:spPr>
          <a:xfrm>
            <a:off x="7040880" y="2011680"/>
            <a:ext cx="4480560" cy="3886200"/>
          </a:xfrm>
          <a:prstGeom prst="roundRect">
            <a:avLst>
              <a:gd fmla="val 1882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7315200" y="21945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Servicios externos, tras interfaces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7315200" y="2697480"/>
            <a:ext cx="40233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Neon.tech — PostgreSQL serverless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Cloudinary — vídeo, subida firmada directa desde el cliente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Vercel Blob — documentos adjuntos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OpenAI — Whisper + GPT-4o-mini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7315200" y="45720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El adaptador de IA implementa una interfaz del núcleo: se puede cambiar de proveedor sin tocar un solo caso de uso.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STACK TECNOLÓGICO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Todo en TypeScript, de la base de datos a la app móvil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40080" y="210312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914400" y="2377440"/>
            <a:ext cx="457200" cy="6400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914400" y="25603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Panel web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914400" y="30175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React 19 · Vite 6 · react-router · sonner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343400" y="210312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617720" y="2377440"/>
            <a:ext cx="457200" cy="64008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4617720" y="25603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App móvil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617720" y="30175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React Native 0.81 · Expo SDK 54 · expo-camera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8046720" y="210312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8321040" y="2377440"/>
            <a:ext cx="457200" cy="64008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8321040" y="25603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321040" y="30175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Vercel Serverless Functions · router propio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40080" y="411480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914400" y="4389120"/>
            <a:ext cx="457200" cy="6400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914400" y="45720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914400" y="50292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PostgreSQL en Neon · Prisma 6 · Zod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343400" y="411480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617720" y="4389120"/>
            <a:ext cx="457200" cy="64008"/>
          </a:xfrm>
          <a:prstGeom prst="rect">
            <a:avLst/>
          </a:prstGeom>
          <a:solidFill>
            <a:srgbClr val="EAB308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617720" y="45720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Archivos e 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617720" y="50292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Cloudinary · Vercel Blob · OpenAI Whisper + GPT-4o-mini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046720" y="4114800"/>
            <a:ext cx="3520440" cy="1783080"/>
          </a:xfrm>
          <a:prstGeom prst="roundRect">
            <a:avLst>
              <a:gd fmla="val 4103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8321040" y="4389120"/>
            <a:ext cx="457200" cy="6400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8321040" y="45720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8321040" y="50292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Vitest · Testing Library · Jest · Playwright · Maestro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CÓMO SE CONSTRUYÓ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Del primer commit a la app desplegada en seis etapas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10"/>
          <p:cNvCxnSpPr/>
          <p:nvPr/>
        </p:nvCxnSpPr>
        <p:spPr>
          <a:xfrm>
            <a:off x="914400" y="3017520"/>
            <a:ext cx="10424160" cy="0"/>
          </a:xfrm>
          <a:prstGeom prst="straightConnector1">
            <a:avLst/>
          </a:prstGeom>
          <a:noFill/>
          <a:ln cap="flat" cmpd="sng" w="25400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0"/>
          <p:cNvSpPr/>
          <p:nvPr/>
        </p:nvSpPr>
        <p:spPr>
          <a:xfrm>
            <a:off x="868680" y="2880360"/>
            <a:ext cx="274320" cy="274320"/>
          </a:xfrm>
          <a:prstGeom prst="ellipse">
            <a:avLst/>
          </a:prstGeom>
          <a:solidFill>
            <a:srgbClr val="6366F1"/>
          </a:solidFill>
          <a:ln cap="flat" cmpd="sng" w="38100">
            <a:solidFill>
              <a:srgbClr val="0B0B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640080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10 jul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40080" y="3429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Fundación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40080" y="3886200"/>
            <a:ext cx="1737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Documentación de contexto, núcleo y esqueleto de la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2743200" y="2880360"/>
            <a:ext cx="274320" cy="274320"/>
          </a:xfrm>
          <a:prstGeom prst="ellipse">
            <a:avLst/>
          </a:prstGeom>
          <a:solidFill>
            <a:srgbClr val="6366F1"/>
          </a:solidFill>
          <a:ln cap="flat" cmpd="sng" w="38100">
            <a:solidFill>
              <a:srgbClr val="0B0B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2514600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17 jul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2514600" y="3429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App móvil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2514600" y="3886200"/>
            <a:ext cx="1737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Scaffold Expo y sistema de diseño glassmorphism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617720" y="2880360"/>
            <a:ext cx="274320" cy="274320"/>
          </a:xfrm>
          <a:prstGeom prst="ellipse">
            <a:avLst/>
          </a:prstGeom>
          <a:solidFill>
            <a:srgbClr val="6366F1"/>
          </a:solidFill>
          <a:ln cap="flat" cmpd="sng" w="38100">
            <a:solidFill>
              <a:srgbClr val="0B0B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4389120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29–31 jul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389120" y="3429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Datos reales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389120" y="3886200"/>
            <a:ext cx="1737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Neon + Prisma, panel conectado a la API, seed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492240" y="2880360"/>
            <a:ext cx="274320" cy="274320"/>
          </a:xfrm>
          <a:prstGeom prst="ellipse">
            <a:avLst/>
          </a:prstGeom>
          <a:solidFill>
            <a:srgbClr val="6366F1"/>
          </a:solidFill>
          <a:ln cap="flat" cmpd="sng" w="38100">
            <a:solidFill>
              <a:srgbClr val="0B0B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6263640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3–5 ago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263640" y="3429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Vídeo e 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263640" y="3886200"/>
            <a:ext cx="1737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Cloudinary, cámara en la app, Whisper + GPT-4o-mini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366760" y="2880360"/>
            <a:ext cx="274320" cy="274320"/>
          </a:xfrm>
          <a:prstGeom prst="ellipse">
            <a:avLst/>
          </a:prstGeom>
          <a:solidFill>
            <a:srgbClr val="6366F1"/>
          </a:solidFill>
          <a:ln cap="flat" cmpd="sng" w="38100">
            <a:solidFill>
              <a:srgbClr val="0B0B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8138160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10–12 ago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8138160" y="3429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Flujo completo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8138160" y="3886200"/>
            <a:ext cx="1737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Abrir/cerrar rondas, envíos del actor, materiales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0241280" y="2880360"/>
            <a:ext cx="274320" cy="274320"/>
          </a:xfrm>
          <a:prstGeom prst="ellipse">
            <a:avLst/>
          </a:prstGeom>
          <a:solidFill>
            <a:srgbClr val="22C55E"/>
          </a:solidFill>
          <a:ln cap="flat" cmpd="sng" w="38100">
            <a:solidFill>
              <a:srgbClr val="0B0B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10012680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Sept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0012680" y="3429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0012680" y="3886200"/>
            <a:ext cx="1737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Tests 192 → </a:t>
            </a:r>
            <a:r>
              <a:rPr lang="en-US" sz="1300">
                <a:solidFill>
                  <a:srgbClr val="9A9AB2"/>
                </a:solidFill>
              </a:rPr>
              <a:t>275</a:t>
            </a:r>
            <a:r>
              <a:rPr b="0" i="0" lang="en-US" sz="13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, bugs reales, docs y README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55 commits en julio · 19 en agosto · 13 en septiembre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DECISIONES QUE RECTIFIQUÉ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Lo que salió mal me enseñó más que lo que salió bien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206240" y="20116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AHORA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772400" y="20116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POR QUÉ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11"/>
          <p:cNvCxnSpPr/>
          <p:nvPr/>
        </p:nvCxnSpPr>
        <p:spPr>
          <a:xfrm>
            <a:off x="640080" y="2423160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1"/>
          <p:cNvSpPr/>
          <p:nvPr/>
        </p:nvSpPr>
        <p:spPr>
          <a:xfrm>
            <a:off x="640080" y="256032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Vídeo en Base64 dentro de PostgreSQL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206240" y="256032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Subida directa a Cloudinary y Blob; la BD guarda solo la URL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7772400" y="2560320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Límite artificial de 5 MB y tamaño de petición en serverless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1"/>
          <p:cNvCxnSpPr/>
          <p:nvPr/>
        </p:nvCxnSpPr>
        <p:spPr>
          <a:xfrm>
            <a:off x="640080" y="3657600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1"/>
          <p:cNvSpPr/>
          <p:nvPr/>
        </p:nvSpPr>
        <p:spPr>
          <a:xfrm>
            <a:off x="640080" y="379476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Navegación por hash y rutas incompletas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206240" y="379476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react-router con rutas reales para proyectos, castings, rondas y ajustes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772400" y="3794760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Un comodín (*) absorbía todas las rutas: las vistas de detalle nunca se mostraban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11"/>
          <p:cNvCxnSpPr/>
          <p:nvPr/>
        </p:nvCxnSpPr>
        <p:spPr>
          <a:xfrm>
            <a:off x="640080" y="4892040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1"/>
          <p:cNvSpPr/>
          <p:nvPr/>
        </p:nvSpPr>
        <p:spPr>
          <a:xfrm>
            <a:off x="640080" y="502920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Datos simulados en la app móvil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206240" y="5029200"/>
            <a:ext cx="3246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Adjuntos y comentarios leen la API real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772400" y="5029200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Las pruebas escritas contra el servicio revelaron que nunca llamaba al backend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FUNCIONALIDADES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Lo que cubre 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40080" y="2011680"/>
            <a:ext cx="3520440" cy="4114800"/>
          </a:xfrm>
          <a:prstGeom prst="roundRect">
            <a:avLst>
              <a:gd fmla="val 2078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914400" y="2286000"/>
            <a:ext cx="457200" cy="6400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914400" y="24688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Director · panel web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91440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Proyectos, castings y rondas (abrir/cerrar, fechas límite)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Gestión de actores: alta, búsqueda, edición, borrado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Materiales adjuntos por ronda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Revisión: vídeo, estado, feedback y comentarios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Subida de vídeo en nombre de un actor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343400" y="2011680"/>
            <a:ext cx="3520440" cy="4114800"/>
          </a:xfrm>
          <a:prstGeom prst="roundRect">
            <a:avLst>
              <a:gd fmla="val 2078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617720" y="2286000"/>
            <a:ext cx="457200" cy="64008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4617720" y="24688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Actor · móvil y web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61772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Castings abiertos con estado y feedback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lang="en-US" sz="1450">
                <a:solidFill>
                  <a:srgbClr val="9A9AB2"/>
                </a:solidFill>
              </a:rPr>
              <a:t>Grabación con la cámara: solo en la app móvil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lang="en-US" sz="1450">
                <a:solidFill>
                  <a:srgbClr val="9A9AB2"/>
                </a:solidFill>
              </a:rPr>
              <a:t>Portal web: subida de archivos (hasta 100 MB)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Materiales de cada ronda y comentarios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Perfil editable: nombre, contacto, agencia, bio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8046720" y="2011680"/>
            <a:ext cx="3520440" cy="4114800"/>
          </a:xfrm>
          <a:prstGeom prst="roundRect">
            <a:avLst>
              <a:gd fmla="val 2078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8321040" y="2286000"/>
            <a:ext cx="457200" cy="6400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8321040" y="24688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IA y transversales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8321040" y="3017520"/>
            <a:ext cx="30632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Transcripción (Whisper) y puntuación 0–100 con feedback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Errores de IA tipados y traducidos a HTTP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Núcleo sin dependencias, 28 endpoints con Zod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Documentación y ayuda dentro de la aplicación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IA EN EL PRODUCTO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De un vídeo a una puntuación razonada, en un clic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640080" y="2286000"/>
            <a:ext cx="2377440" cy="1828800"/>
          </a:xfrm>
          <a:prstGeom prst="roundRect">
            <a:avLst>
              <a:gd fmla="val 4000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40080" y="2286000"/>
            <a:ext cx="2377440" cy="73152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868680" y="2560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Vídeo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868680" y="310896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URL de Cloudinary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3"/>
          <p:cNvCxnSpPr/>
          <p:nvPr/>
        </p:nvCxnSpPr>
        <p:spPr>
          <a:xfrm>
            <a:off x="3063240" y="32004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9A9A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8" name="Google Shape;268;p13"/>
          <p:cNvSpPr/>
          <p:nvPr/>
        </p:nvSpPr>
        <p:spPr>
          <a:xfrm>
            <a:off x="3474720" y="2286000"/>
            <a:ext cx="2377440" cy="1828800"/>
          </a:xfrm>
          <a:prstGeom prst="roundRect">
            <a:avLst>
              <a:gd fmla="val 4000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3474720" y="2286000"/>
            <a:ext cx="2377440" cy="7315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3703320" y="2560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Whisper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703320" y="310896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Transcripción del audio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3"/>
          <p:cNvCxnSpPr/>
          <p:nvPr/>
        </p:nvCxnSpPr>
        <p:spPr>
          <a:xfrm>
            <a:off x="5897880" y="32004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9A9A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13"/>
          <p:cNvSpPr/>
          <p:nvPr/>
        </p:nvSpPr>
        <p:spPr>
          <a:xfrm>
            <a:off x="6309360" y="2286000"/>
            <a:ext cx="2377440" cy="1828800"/>
          </a:xfrm>
          <a:prstGeom prst="roundRect">
            <a:avLst>
              <a:gd fmla="val 4000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6309360" y="2286000"/>
            <a:ext cx="2377440" cy="73152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6537960" y="2560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GPT-4o-mini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537960" y="310896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Evalúa frente a los requisitos del papel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3"/>
          <p:cNvCxnSpPr/>
          <p:nvPr/>
        </p:nvCxnSpPr>
        <p:spPr>
          <a:xfrm>
            <a:off x="8732520" y="32004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9A9A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13"/>
          <p:cNvSpPr/>
          <p:nvPr/>
        </p:nvSpPr>
        <p:spPr>
          <a:xfrm>
            <a:off x="9144000" y="2286000"/>
            <a:ext cx="2377440" cy="1828800"/>
          </a:xfrm>
          <a:prstGeom prst="roundRect">
            <a:avLst>
              <a:gd fmla="val 4000" name="adj"/>
            </a:avLst>
          </a:prstGeom>
          <a:solidFill>
            <a:srgbClr val="1C1C2B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9144000" y="2286000"/>
            <a:ext cx="2377440" cy="7315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9372600" y="25603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9372600" y="310896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Puntuación 0–100 + feedback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40080" y="4526280"/>
            <a:ext cx="10881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La IA asiste, no decide: el director sigue marcando revisado, preseleccionado o rechazado.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Analiza el audio transcrito, no la interpretación visual: una limitación consciente.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Fallos (límite de peticiones, credenciales, servicio caído) se tipan y llegan como códigos HTTP coherentes.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F2F7"/>
                </a:solidFill>
              </a:rPr>
              <a:t>275</a:t>
            </a: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 pruebas automatizadas y cuatro bugs reales encontrados al escribirlas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640080" y="210312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914400" y="224028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6366F1"/>
                </a:solidFill>
              </a:rPr>
              <a:t>275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914400" y="3154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pruebas automatizadas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4343400" y="210312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4617720" y="224028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25 / 25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617720" y="3154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casos de uso con test propio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8046720" y="210312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8321040" y="224028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8321040" y="3154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flujos E2E móviles (Maestro)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Bugs reales que salieron a la luz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640080" y="4572000"/>
            <a:ext cx="10881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DELETE de adjuntos devolvía «éxito» sin borrar nada de la base de datos.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9A9AB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Adjuntos de la app móvil: datos simulados, nunca llamaban a la API.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9A9AB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Comentarios de la app móvil: simulados y, además, sin el identificador de envío necesario.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9A9AB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Límite de 5 MB en la subida web, herencia de una arquitectura ya abandonada.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PROYECTO DESPLEGADO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Se puede probar ahora mismo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640080" y="2103120"/>
            <a:ext cx="6583680" cy="3977640"/>
          </a:xfrm>
          <a:prstGeom prst="roundRect">
            <a:avLst>
              <a:gd fmla="val 1839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>
            <a:hlinkClick r:id="rId3"/>
          </p:cNvPr>
          <p:cNvSpPr/>
          <p:nvPr/>
        </p:nvSpPr>
        <p:spPr>
          <a:xfrm>
            <a:off x="914400" y="237744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master-ai-tfm.vercel.app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914400" y="3200400"/>
            <a:ext cx="6035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Pantalla inicial: elige Director o Actor.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Base de datos con proyectos, castings y envíos de demostración.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Vídeo en Cloudinary, documentos en Vercel Blob, IA con OpenAI.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F2F2F7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2F2F7"/>
                </a:solidFill>
              </a:rPr>
              <a:t>Web del actor: sube un archivo de vídeo. Grabar con cámara es exclusivo de la app móvil (Expo).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7955280" y="2377440"/>
            <a:ext cx="3566160" cy="35661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synss\AppData\Local\Temp\claude\C--Users-synss-prog-singularity-engine\cc0457bd-1e17-49de-bb25-3a846b8e2a4a\scratchpad\deck\qr.png" id="316" name="Google Shape;3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3880" y="2606040"/>
            <a:ext cx="3108960" cy="310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LECCIONES APRENDIDAS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Lo que me llevo de desarrollar con IA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640080" y="2057400"/>
            <a:ext cx="5394960" cy="1874520"/>
          </a:xfrm>
          <a:prstGeom prst="roundRect">
            <a:avLst>
              <a:gd fmla="val 3902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914400" y="22402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La IA acelera, pero deriva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914400" y="2697480"/>
            <a:ext cx="4846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La documentación y los datos simulados se quedaron atrás del código. Hay que verificar contra la realidad, no contra lo que se dijo que existía.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6217920" y="2057400"/>
            <a:ext cx="5394960" cy="1874520"/>
          </a:xfrm>
          <a:prstGeom prst="roundRect">
            <a:avLst>
              <a:gd fmla="val 3902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6492240" y="22402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Probar el servicio, no solo el módulo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6492240" y="2697480"/>
            <a:ext cx="4846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Los tests que mockean el módulo entero no detectaron que dos servicios móviles eran falsos; los tests contra la capa de red sí.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640080" y="4160520"/>
            <a:ext cx="5394960" cy="1874520"/>
          </a:xfrm>
          <a:prstGeom prst="roundRect">
            <a:avLst>
              <a:gd fmla="val 3902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Las restricciones mandan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914400" y="4800600"/>
            <a:ext cx="4846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El sistema de ficheros efímero de serverless y sus límites de tamaño decidieron dónde viven los vídeos antes que cualquier preferencia.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6217920" y="4160520"/>
            <a:ext cx="5394960" cy="1874520"/>
          </a:xfrm>
          <a:prstGeom prst="roundRect">
            <a:avLst>
              <a:gd fmla="val 3902" name="adj"/>
            </a:avLst>
          </a:prstGeom>
          <a:solidFill>
            <a:srgbClr val="15151F"/>
          </a:solidFill>
          <a:ln cap="flat" cmpd="sng" w="9525">
            <a:solidFill>
              <a:srgbClr val="2A2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6492240" y="4343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Alcance acotado = proyecto terminado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6492240" y="4800600"/>
            <a:ext cx="4846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Dejar fuera la autenticación permitió cerrar el camino feliz completo, con IA, dos clientes y despliegue.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CONCLUSIONES Y SIGUIENTES PASOS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Un flujo de casting completo, listo para crecer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MasterAI Casting · TFM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8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C6C85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640080" y="20116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640080" y="242316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Se cumplió el objetivo: director y actor cierran el ciclo de casting sobre una única API, con revisión asistida por IA, desplegado y cubierto por pruebas.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Siguientes pasos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6400800" y="2423160"/>
            <a:ext cx="5120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9A9AB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Autenticación real y roles por usuario.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Publicar en iOS con TestFlight.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Notificaciones al actor cuando cambie su estado.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Paginación, filtros y comparación lado a lado de candidatos.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Mostrar los errores de red en lugar de degradar en silencio.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9A9AB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9A9AB2"/>
                </a:solidFill>
                <a:latin typeface="Arial"/>
                <a:ea typeface="Arial"/>
                <a:cs typeface="Arial"/>
                <a:sym typeface="Arial"/>
              </a:rPr>
              <a:t>Análisis de interpretación visual, además del audio.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4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"/>
          <p:cNvSpPr/>
          <p:nvPr/>
        </p:nvSpPr>
        <p:spPr>
          <a:xfrm>
            <a:off x="-2011680" y="2926080"/>
            <a:ext cx="5943600" cy="5943600"/>
          </a:xfrm>
          <a:prstGeom prst="ellipse">
            <a:avLst/>
          </a:prstGeom>
          <a:solidFill>
            <a:srgbClr val="6366F1">
              <a:alpha val="16078"/>
            </a:srgbClr>
          </a:solidFill>
          <a:ln cap="flat" cmpd="sng" w="12700">
            <a:solidFill>
              <a:srgbClr val="6366F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8778240" y="-1828800"/>
            <a:ext cx="5303520" cy="5303520"/>
          </a:xfrm>
          <a:prstGeom prst="ellipse">
            <a:avLst/>
          </a:prstGeom>
          <a:solidFill>
            <a:srgbClr val="A855F7">
              <a:alpha val="14118"/>
            </a:srgbClr>
          </a:solidFill>
          <a:ln cap="flat" cmpd="sng" w="12700">
            <a:solidFill>
              <a:srgbClr val="A855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731520" y="3108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PROYECTO DESPLEGADO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>
            <a:hlinkClick r:id="rId3"/>
          </p:cNvPr>
          <p:cNvSpPr/>
          <p:nvPr/>
        </p:nvSpPr>
        <p:spPr>
          <a:xfrm>
            <a:off x="731520" y="340156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0" i="0" lang="en-US" sz="1900" u="sng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master-ai-tfm.vercel.app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731520" y="3977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CÓDIGO Y README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>
            <a:hlinkClick r:id="rId5"/>
          </p:cNvPr>
          <p:cNvSpPr/>
          <p:nvPr/>
        </p:nvSpPr>
        <p:spPr>
          <a:xfrm>
            <a:off x="731520" y="427024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0" i="0" lang="en-US" sz="1900" u="sng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github.com/SergioSNW/masterAI-tfm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731520" y="4846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ARQUITECTURA DETALLADA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>
            <a:hlinkClick r:id="rId7"/>
          </p:cNvPr>
          <p:cNvSpPr/>
          <p:nvPr/>
        </p:nvSpPr>
        <p:spPr>
          <a:xfrm>
            <a:off x="731520" y="51389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7"/>
              </a:buClr>
              <a:buSzPts val="1900"/>
              <a:buFont typeface="Arial"/>
              <a:buNone/>
            </a:pPr>
            <a:r>
              <a:rPr b="0" i="0" lang="en-US" sz="1900" u="sng" cap="none" strike="noStrike">
                <a:solidFill>
                  <a:srgbClr val="F2F2F7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ARCHITECTURE_TEXTBOOK.md (en el repositorio)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